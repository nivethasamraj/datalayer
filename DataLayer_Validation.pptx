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E2550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8347AD">
              <a:alpha val="12000"/>
            </a:srgbClr>
          </a:solidFill>
          <a:ln/>
        </p:spPr>
      </p:sp>
      <p:pic>
        <p:nvPicPr>
          <p:cNvPr id="4" name="Image 0" descr="/tmp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566928" cy="649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81328" y="78638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TECHNOLOGIES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 Validation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Automation Framework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04672" y="4160520"/>
            <a:ext cx="502920" cy="36576"/>
          </a:xfrm>
          <a:prstGeom prst="rect">
            <a:avLst/>
          </a:prstGeom>
          <a:solidFill>
            <a:srgbClr val="8347AD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·  TYPESCRIPT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49640" y="25146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reusable automation framework to validate the Data Layer across end-to-end customer journeys.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20624" cy="4809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76656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783080"/>
            <a:ext cx="2194560" cy="841248"/>
          </a:xfrm>
          <a:prstGeom prst="roundRect">
            <a:avLst>
              <a:gd name="adj" fmla="val 6522"/>
            </a:avLst>
          </a:prstGeom>
          <a:solidFill>
            <a:srgbClr val="8347A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783080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063240" y="178308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attributes identified across the application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52344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752344"/>
            <a:ext cx="2194560" cy="841248"/>
          </a:xfrm>
          <a:prstGeom prst="roundRect">
            <a:avLst>
              <a:gd name="adj" fmla="val 6522"/>
            </a:avLst>
          </a:prstGeom>
          <a:solidFill>
            <a:srgbClr val="8347AD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75234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063240" y="2752344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Repository-driven validation, single source of truth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3721608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3721608"/>
            <a:ext cx="2194560" cy="841248"/>
          </a:xfrm>
          <a:prstGeom prst="roundRect">
            <a:avLst>
              <a:gd name="adj" fmla="val 6522"/>
            </a:avLst>
          </a:prstGeom>
          <a:solidFill>
            <a:srgbClr val="8347A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721608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E2E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063240" y="3721608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end-to-end automation coverage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4690872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4690872"/>
            <a:ext cx="2194560" cy="841248"/>
          </a:xfrm>
          <a:prstGeom prst="roundRect">
            <a:avLst>
              <a:gd name="adj" fmla="val 6522"/>
            </a:avLst>
          </a:prstGeom>
          <a:solidFill>
            <a:srgbClr val="8347AD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690872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Talbots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3063240" y="469087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support, scalable to additional brands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5660136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5660136"/>
            <a:ext cx="2194560" cy="841248"/>
          </a:xfrm>
          <a:prstGeom prst="roundRect">
            <a:avLst>
              <a:gd name="adj" fmla="val 6522"/>
            </a:avLst>
          </a:prstGeom>
          <a:solidFill>
            <a:srgbClr val="8347AD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5660136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+ CSV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063240" y="5660136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Detailed, business-friendly validation reports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20624" cy="4809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76656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 Validation Flow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74320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4F2F9"/>
          </a:solidFill>
          <a:ln w="12700">
            <a:solidFill>
              <a:srgbClr val="DCD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2907792"/>
            <a:ext cx="457200" cy="457200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496312" y="2743200"/>
            <a:ext cx="3840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98648" y="274320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4F2F9"/>
          </a:solidFill>
          <a:ln w="12700">
            <a:solidFill>
              <a:srgbClr val="DCD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63240" y="2907792"/>
            <a:ext cx="457200" cy="457200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12" name="Text 9"/>
          <p:cNvSpPr/>
          <p:nvPr/>
        </p:nvSpPr>
        <p:spPr>
          <a:xfrm>
            <a:off x="306324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90088" y="33832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utag.data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54880" y="2743200"/>
            <a:ext cx="3840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157216" y="274320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4F2F9"/>
          </a:solidFill>
          <a:ln w="12700">
            <a:solidFill>
              <a:srgbClr val="DCD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21808" y="2907792"/>
            <a:ext cx="457200" cy="457200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17" name="Text 14"/>
          <p:cNvSpPr/>
          <p:nvPr/>
        </p:nvSpPr>
        <p:spPr>
          <a:xfrm>
            <a:off x="5321808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48656" y="33832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Expected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13448" y="2743200"/>
            <a:ext cx="3840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415784" y="274320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4F2F9"/>
          </a:solidFill>
          <a:ln w="12700">
            <a:solidFill>
              <a:srgbClr val="DCD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80376" y="2907792"/>
            <a:ext cx="457200" cy="457200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22" name="Text 19"/>
          <p:cNvSpPr/>
          <p:nvPr/>
        </p:nvSpPr>
        <p:spPr>
          <a:xfrm>
            <a:off x="7580376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507224" y="33832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272016" y="2743200"/>
            <a:ext cx="38404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9674352" y="274320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8347AD"/>
          </a:solidFill>
          <a:ln w="12700">
            <a:solidFill>
              <a:srgbClr val="8347A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838944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9838944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765792" y="33832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runs end-to-end, capturing the live data layer and validating it against the Excel repository before reports are generated.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20624" cy="4809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76656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Coverage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3721608" cy="502920"/>
          </a:xfrm>
          <a:prstGeom prst="rect">
            <a:avLst/>
          </a:prstGeom>
          <a:solidFill>
            <a:srgbClr val="151A36"/>
          </a:solidFill>
          <a:ln/>
        </p:spPr>
      </p:sp>
      <p:sp>
        <p:nvSpPr>
          <p:cNvPr id="6" name="Shape 3"/>
          <p:cNvSpPr/>
          <p:nvPr/>
        </p:nvSpPr>
        <p:spPr>
          <a:xfrm>
            <a:off x="4361688" y="1783080"/>
            <a:ext cx="3044952" cy="502920"/>
          </a:xfrm>
          <a:prstGeom prst="rect">
            <a:avLst/>
          </a:prstGeom>
          <a:solidFill>
            <a:srgbClr val="151A36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783080"/>
            <a:ext cx="3721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44568" y="1783080"/>
            <a:ext cx="3044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286000"/>
            <a:ext cx="6766560" cy="457200"/>
          </a:xfrm>
          <a:prstGeom prst="rect">
            <a:avLst/>
          </a:prstGeom>
          <a:solidFill>
            <a:srgbClr val="EEF1F8"/>
          </a:solidFill>
          <a:ln w="9525">
            <a:solidFill>
              <a:srgbClr val="E2E4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3538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44568" y="22860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743200"/>
            <a:ext cx="6766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743200"/>
            <a:ext cx="3538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44568" y="27432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200400"/>
            <a:ext cx="6766560" cy="457200"/>
          </a:xfrm>
          <a:prstGeom prst="rect">
            <a:avLst/>
          </a:prstGeom>
          <a:solidFill>
            <a:srgbClr val="EEF1F8"/>
          </a:solidFill>
          <a:ln w="9525">
            <a:solidFill>
              <a:srgbClr val="E2E4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200400"/>
            <a:ext cx="3538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44568" y="32004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657600"/>
            <a:ext cx="6766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657600"/>
            <a:ext cx="3538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44568" y="36576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+ 50 = 51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114800"/>
            <a:ext cx="6766560" cy="457200"/>
          </a:xfrm>
          <a:prstGeom prst="rect">
            <a:avLst/>
          </a:prstGeom>
          <a:solidFill>
            <a:srgbClr val="EEF1F8"/>
          </a:solidFill>
          <a:ln w="9525">
            <a:solidFill>
              <a:srgbClr val="E2E4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4114800"/>
            <a:ext cx="3538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44568" y="41148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+ 50 = 51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4572000"/>
            <a:ext cx="6766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4572000"/>
            <a:ext cx="3538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44568" y="45720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+ 50 = 84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" y="5029200"/>
            <a:ext cx="6766560" cy="457200"/>
          </a:xfrm>
          <a:prstGeom prst="rect">
            <a:avLst/>
          </a:prstGeom>
          <a:solidFill>
            <a:srgbClr val="EEF1F8"/>
          </a:solidFill>
          <a:ln w="9525">
            <a:solidFill>
              <a:srgbClr val="E2E4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5029200"/>
            <a:ext cx="3538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44568" y="50292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+ 50 = 52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0080" y="5486400"/>
            <a:ext cx="6766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5486400"/>
            <a:ext cx="3538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544568" y="54864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+ 50 = 99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818120" y="1783080"/>
            <a:ext cx="3730752" cy="1920240"/>
          </a:xfrm>
          <a:prstGeom prst="roundRect">
            <a:avLst>
              <a:gd name="adj" fmla="val 3810"/>
            </a:avLst>
          </a:prstGeom>
          <a:solidFill>
            <a:srgbClr val="151A36"/>
          </a:solidFill>
          <a:ln/>
        </p:spPr>
      </p:sp>
      <p:sp>
        <p:nvSpPr>
          <p:cNvPr id="34" name="Text 31"/>
          <p:cNvSpPr/>
          <p:nvPr/>
        </p:nvSpPr>
        <p:spPr>
          <a:xfrm>
            <a:off x="7818120" y="1965960"/>
            <a:ext cx="3730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9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6000" dirty="0"/>
          </a:p>
        </p:txBody>
      </p:sp>
      <p:sp>
        <p:nvSpPr>
          <p:cNvPr id="35" name="Text 32"/>
          <p:cNvSpPr/>
          <p:nvPr/>
        </p:nvSpPr>
        <p:spPr>
          <a:xfrm>
            <a:off x="7818120" y="2926080"/>
            <a:ext cx="3730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 Layer attributes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validation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818120" y="3886200"/>
            <a:ext cx="3730752" cy="1600200"/>
          </a:xfrm>
          <a:prstGeom prst="roundRect">
            <a:avLst>
              <a:gd name="adj" fmla="val 4571"/>
            </a:avLst>
          </a:prstGeom>
          <a:solidFill>
            <a:srgbClr val="F4F2F9"/>
          </a:solidFill>
          <a:ln w="12700">
            <a:solidFill>
              <a:srgbClr val="DCD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92440" y="406908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baseline attributes are validated on every page, layered with page-specific attributes for complete journey coverage.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20624" cy="4809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76656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Scenarios Covered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BROWSE JOURNEYS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243687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24028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User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298551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78892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33756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1248" y="353415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33756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Product Categories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88620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408279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388620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Validation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43484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1248" y="463143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443484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 &amp; PDP Validation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98348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1248" y="518007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23" name="Text 20"/>
          <p:cNvSpPr/>
          <p:nvPr/>
        </p:nvSpPr>
        <p:spPr>
          <a:xfrm>
            <a:off x="1051560" y="498348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Ship-To-Home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553212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1248" y="572871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26" name="Text 23"/>
          <p:cNvSpPr/>
          <p:nvPr/>
        </p:nvSpPr>
        <p:spPr>
          <a:xfrm>
            <a:off x="1051560" y="553212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BOPIS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199632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CHECKOUT &amp; PAYMENTS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53912" y="224028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55080" y="243687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30" name="Text 27"/>
          <p:cNvSpPr/>
          <p:nvPr/>
        </p:nvSpPr>
        <p:spPr>
          <a:xfrm>
            <a:off x="6565392" y="224028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– No Promotion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153912" y="278892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55080" y="298551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33" name="Text 30"/>
          <p:cNvSpPr/>
          <p:nvPr/>
        </p:nvSpPr>
        <p:spPr>
          <a:xfrm>
            <a:off x="6565392" y="278892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– Auto Apply Promotion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153912" y="333756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55080" y="353415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36" name="Text 33"/>
          <p:cNvSpPr/>
          <p:nvPr/>
        </p:nvSpPr>
        <p:spPr>
          <a:xfrm>
            <a:off x="6565392" y="333756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– Manual Coupon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153912" y="388620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55080" y="408279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39" name="Text 36"/>
          <p:cNvSpPr/>
          <p:nvPr/>
        </p:nvSpPr>
        <p:spPr>
          <a:xfrm>
            <a:off x="6565392" y="388620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– Mixed Promotions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6153912" y="443484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55080" y="463143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42" name="Text 39"/>
          <p:cNvSpPr/>
          <p:nvPr/>
        </p:nvSpPr>
        <p:spPr>
          <a:xfrm>
            <a:off x="6565392" y="443484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– Different Card Types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153912" y="498348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EEF1F8"/>
          </a:solidFill>
          <a:ln w="12700">
            <a:solidFill>
              <a:srgbClr val="E2E4E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355080" y="5180076"/>
            <a:ext cx="82296" cy="82296"/>
          </a:xfrm>
          <a:prstGeom prst="ellipse">
            <a:avLst/>
          </a:prstGeom>
          <a:solidFill>
            <a:srgbClr val="8347AD"/>
          </a:solidFill>
          <a:ln/>
        </p:spPr>
      </p:sp>
      <p:sp>
        <p:nvSpPr>
          <p:cNvPr id="45" name="Text 42"/>
          <p:cNvSpPr/>
          <p:nvPr/>
        </p:nvSpPr>
        <p:spPr>
          <a:xfrm>
            <a:off x="6565392" y="498348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6153912" y="5532120"/>
            <a:ext cx="5394960" cy="475488"/>
          </a:xfrm>
          <a:prstGeom prst="roundRect">
            <a:avLst>
              <a:gd name="adj" fmla="val 9615"/>
            </a:avLst>
          </a:prstGeom>
          <a:solidFill>
            <a:srgbClr val="8347AD"/>
          </a:solidFill>
          <a:ln w="12700">
            <a:solidFill>
              <a:srgbClr val="8347A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55080" y="5728716"/>
            <a:ext cx="82296" cy="822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/>
          <p:nvPr/>
        </p:nvSpPr>
        <p:spPr>
          <a:xfrm>
            <a:off x="6565392" y="5532120"/>
            <a:ext cx="4892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End-to-End Test Cases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384048"/>
            <a:ext cx="420624" cy="4809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4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76656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Reports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3520440" cy="41605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5875">
            <a:solidFill>
              <a:srgbClr val="E2E4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78308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51A36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2240280"/>
            <a:ext cx="3520440" cy="457200"/>
          </a:xfrm>
          <a:prstGeom prst="rect">
            <a:avLst/>
          </a:prstGeom>
          <a:solidFill>
            <a:srgbClr val="151A3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2219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Report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28072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business-friendly view for quick triage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86968" y="360273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2" name="Text 9"/>
          <p:cNvSpPr/>
          <p:nvPr/>
        </p:nvSpPr>
        <p:spPr>
          <a:xfrm>
            <a:off x="886968" y="360273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 Actual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86968" y="405993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5" name="Text 12"/>
          <p:cNvSpPr/>
          <p:nvPr/>
        </p:nvSpPr>
        <p:spPr>
          <a:xfrm>
            <a:off x="886968" y="405993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" y="3977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/ MISSING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86968" y="451713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8" name="Text 15"/>
          <p:cNvSpPr/>
          <p:nvPr/>
        </p:nvSpPr>
        <p:spPr>
          <a:xfrm>
            <a:off x="886968" y="451713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" y="4434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friendly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" y="5029200"/>
            <a:ext cx="3063240" cy="713232"/>
          </a:xfrm>
          <a:prstGeom prst="roundRect">
            <a:avLst>
              <a:gd name="adj" fmla="val 5128"/>
            </a:avLst>
          </a:prstGeom>
          <a:solidFill>
            <a:srgbClr val="EEF1F8"/>
          </a:solidFill>
          <a:ln w="12700">
            <a:solidFill>
              <a:srgbClr val="DCD3EC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868680" y="502920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be added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34256" y="1783080"/>
            <a:ext cx="3520440" cy="41605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5875">
            <a:solidFill>
              <a:srgbClr val="E2E4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34256" y="178308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51A36"/>
          </a:solidFill>
          <a:ln/>
        </p:spPr>
      </p:sp>
      <p:sp>
        <p:nvSpPr>
          <p:cNvPr id="24" name="Shape 21"/>
          <p:cNvSpPr/>
          <p:nvPr/>
        </p:nvSpPr>
        <p:spPr>
          <a:xfrm>
            <a:off x="4334256" y="2240280"/>
            <a:ext cx="3520440" cy="457200"/>
          </a:xfrm>
          <a:prstGeom prst="rect">
            <a:avLst/>
          </a:prstGeom>
          <a:solidFill>
            <a:srgbClr val="151A36"/>
          </a:solidFill>
          <a:ln/>
        </p:spPr>
      </p:sp>
      <p:sp>
        <p:nvSpPr>
          <p:cNvPr id="25" name="Text 22"/>
          <p:cNvSpPr/>
          <p:nvPr/>
        </p:nvSpPr>
        <p:spPr>
          <a:xfrm>
            <a:off x="4562856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62856" y="22219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Report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562856" y="28072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export for analysis and record-keeping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81144" y="360273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9" name="Text 26"/>
          <p:cNvSpPr/>
          <p:nvPr/>
        </p:nvSpPr>
        <p:spPr>
          <a:xfrm>
            <a:off x="4581144" y="360273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37176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 Actual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581144" y="405993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2" name="Text 29"/>
          <p:cNvSpPr/>
          <p:nvPr/>
        </p:nvSpPr>
        <p:spPr>
          <a:xfrm>
            <a:off x="4581144" y="405993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37176" y="3977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/ MISSING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81144" y="451713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5" name="Text 32"/>
          <p:cNvSpPr/>
          <p:nvPr/>
        </p:nvSpPr>
        <p:spPr>
          <a:xfrm>
            <a:off x="4581144" y="451713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837176" y="4434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friendly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562856" y="5029200"/>
            <a:ext cx="3063240" cy="713232"/>
          </a:xfrm>
          <a:prstGeom prst="roundRect">
            <a:avLst>
              <a:gd name="adj" fmla="val 5128"/>
            </a:avLst>
          </a:prstGeom>
          <a:solidFill>
            <a:srgbClr val="EEF1F8"/>
          </a:solidFill>
          <a:ln w="12700">
            <a:solidFill>
              <a:srgbClr val="DCD3EC"/>
            </a:solidFill>
            <a:prstDash val="dash"/>
          </a:ln>
        </p:spPr>
      </p:sp>
      <p:sp>
        <p:nvSpPr>
          <p:cNvPr id="38" name="Text 35"/>
          <p:cNvSpPr/>
          <p:nvPr/>
        </p:nvSpPr>
        <p:spPr>
          <a:xfrm>
            <a:off x="4562856" y="502920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be added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028432" y="1783080"/>
            <a:ext cx="3520440" cy="41605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5875">
            <a:solidFill>
              <a:srgbClr val="E2E4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28432" y="178308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51A36"/>
          </a:solidFill>
          <a:ln/>
        </p:spPr>
      </p:sp>
      <p:sp>
        <p:nvSpPr>
          <p:cNvPr id="41" name="Shape 38"/>
          <p:cNvSpPr/>
          <p:nvPr/>
        </p:nvSpPr>
        <p:spPr>
          <a:xfrm>
            <a:off x="8028432" y="2240280"/>
            <a:ext cx="3520440" cy="457200"/>
          </a:xfrm>
          <a:prstGeom prst="rect">
            <a:avLst/>
          </a:prstGeom>
          <a:solidFill>
            <a:srgbClr val="151A36"/>
          </a:solidFill>
          <a:ln/>
        </p:spPr>
      </p:sp>
      <p:sp>
        <p:nvSpPr>
          <p:cNvPr id="42" name="Text 39"/>
          <p:cNvSpPr/>
          <p:nvPr/>
        </p:nvSpPr>
        <p:spPr>
          <a:xfrm>
            <a:off x="8257032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257032" y="22219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Report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8257032" y="28072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roll-up across all scenarios and pages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8275320" y="360273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46" name="Text 43"/>
          <p:cNvSpPr/>
          <p:nvPr/>
        </p:nvSpPr>
        <p:spPr>
          <a:xfrm>
            <a:off x="8275320" y="360273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531352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 Actual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8275320" y="405993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49" name="Text 46"/>
          <p:cNvSpPr/>
          <p:nvPr/>
        </p:nvSpPr>
        <p:spPr>
          <a:xfrm>
            <a:off x="8275320" y="405993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8531352" y="3977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/ MISSING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8275320" y="451713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52" name="Text 49"/>
          <p:cNvSpPr/>
          <p:nvPr/>
        </p:nvSpPr>
        <p:spPr>
          <a:xfrm>
            <a:off x="8275320" y="451713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531352" y="4434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friendly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8257032" y="5029200"/>
            <a:ext cx="3063240" cy="713232"/>
          </a:xfrm>
          <a:prstGeom prst="roundRect">
            <a:avLst>
              <a:gd name="adj" fmla="val 5128"/>
            </a:avLst>
          </a:prstGeom>
          <a:solidFill>
            <a:srgbClr val="EEF1F8"/>
          </a:solidFill>
          <a:ln w="12700">
            <a:solidFill>
              <a:srgbClr val="DCD3EC"/>
            </a:solidFill>
            <a:prstDash val="dash"/>
          </a:ln>
        </p:spPr>
      </p:sp>
      <p:sp>
        <p:nvSpPr>
          <p:cNvPr id="55" name="Text 52"/>
          <p:cNvSpPr/>
          <p:nvPr/>
        </p:nvSpPr>
        <p:spPr>
          <a:xfrm>
            <a:off x="8257032" y="5029200"/>
            <a:ext cx="3063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to be added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36"/>
          </a:solidFill>
          <a:ln/>
        </p:spPr>
      </p:sp>
      <p:pic>
        <p:nvPicPr>
          <p:cNvPr id="3" name="Image 0" descr="/tmp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457200"/>
            <a:ext cx="457200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26517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Queries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804672" y="3611880"/>
            <a:ext cx="502920" cy="36576"/>
          </a:xfrm>
          <a:prstGeom prst="rect">
            <a:avLst/>
          </a:prstGeom>
          <a:solidFill>
            <a:srgbClr val="8347AD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clarifications and next steps for discussion.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2026-06-30T18:41:12Z</dcterms:created>
  <dcterms:modified xsi:type="dcterms:W3CDTF">2026-06-30T18:41:12Z</dcterms:modified>
</cp:coreProperties>
</file>